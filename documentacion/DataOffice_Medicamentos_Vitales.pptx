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45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FFFFFF"/>
                </a:solidFill>
                <a:latin typeface="Arial"/>
              </a:defRPr>
            </a:pPr>
            <a:r>
              <a:rPr lang="es-CO" sz="1100" b="0" i="0" u="none" strike="noStrike">
                <a:solidFill>
                  <a:srgbClr val="FFFFFF"/>
                </a:solidFill>
                <a:latin typeface="Arial"/>
              </a:rPr>
              <a:t>Solicitudes por año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Solicitudes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2C39A"/>
                    </a:solidFill>
                    <a:latin typeface="Arial"/>
                  </a:defRPr>
                </a:pPr>
                <a:endParaRPr lang="es-CO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  <c:pt idx="7">
                  <c:v>2025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997</c:v>
                </c:pt>
                <c:pt idx="1">
                  <c:v>839</c:v>
                </c:pt>
                <c:pt idx="2">
                  <c:v>705</c:v>
                </c:pt>
                <c:pt idx="3">
                  <c:v>912</c:v>
                </c:pt>
                <c:pt idx="4">
                  <c:v>1231</c:v>
                </c:pt>
                <c:pt idx="5">
                  <c:v>1309</c:v>
                </c:pt>
                <c:pt idx="6">
                  <c:v>1570</c:v>
                </c:pt>
                <c:pt idx="7">
                  <c:v>1524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0F1-4950-9F24-3DCE66E8C1D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BD5E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A335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BD5E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0D1F3C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Urgencia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A9D8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DFBF-4F1C-A983-45B115A87F1B}"/>
              </c:ext>
            </c:extLst>
          </c:dPt>
          <c:dPt>
            <c:idx val="1"/>
            <c:bubble3D val="0"/>
            <c:spPr>
              <a:solidFill>
                <a:srgbClr val="F4A2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FBF-4F1C-A983-45B115A87F1B}"/>
              </c:ext>
            </c:extLst>
          </c:dPt>
          <c:dPt>
            <c:idx val="2"/>
            <c:bubble3D val="0"/>
            <c:spPr>
              <a:solidFill>
                <a:srgbClr val="E6394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DFBF-4F1C-A983-45B115A87F1B}"/>
              </c:ext>
            </c:extLst>
          </c:dPt>
          <c:cat>
            <c:strRef>
              <c:f>Sheet1!$A$2:$A$4</c:f>
              <c:strCache>
                <c:ptCount val="3"/>
                <c:pt idx="0">
                  <c:v>BAJA (57.7%)</c:v>
                </c:pt>
                <c:pt idx="1">
                  <c:v>MEDIA (32.2%)</c:v>
                </c:pt>
                <c:pt idx="2">
                  <c:v>ALTA (10.1%)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5452</c:v>
                </c:pt>
                <c:pt idx="1">
                  <c:v>3036</c:v>
                </c:pt>
                <c:pt idx="2">
                  <c:v>954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DFBF-4F1C-A983-45B115A87F1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800">
              <a:solidFill>
                <a:srgbClr val="CBD5E1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0D1F3C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964408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7772400" y="-731520"/>
            <a:ext cx="2743200" cy="2743200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Shape 2"/>
          <p:cNvSpPr/>
          <p:nvPr/>
        </p:nvSpPr>
        <p:spPr>
          <a:xfrm>
            <a:off x="8138160" y="-274320"/>
            <a:ext cx="1828800" cy="1828800"/>
          </a:xfrm>
          <a:prstGeom prst="ellipse">
            <a:avLst/>
          </a:prstGeom>
          <a:solidFill>
            <a:srgbClr val="02C39A">
              <a:alpha val="20000"/>
            </a:srgbClr>
          </a:solidFill>
          <a:ln w="12700">
            <a:solidFill>
              <a:srgbClr val="02C39A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457200" y="502920"/>
            <a:ext cx="292608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457200" y="50292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Universidad Pontificia Bolivariana  |  Data Office Strategy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Alerta Temprana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457200" y="173736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el Desabastecimiento de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457200" y="228600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Medicamentos Vitales en Colombia</a:t>
            </a:r>
            <a:endParaRPr lang="en-US" sz="3400" dirty="0"/>
          </a:p>
        </p:txBody>
      </p:sp>
      <p:sp>
        <p:nvSpPr>
          <p:cNvPr id="10" name="Shape 8"/>
          <p:cNvSpPr/>
          <p:nvPr/>
        </p:nvSpPr>
        <p:spPr>
          <a:xfrm>
            <a:off x="457200" y="3063240"/>
            <a:ext cx="411480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457200" y="3246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INVIMA / datos.gov.co  ·  Dataset: sdmr-tfmf  ·  Mayo 2026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3840480"/>
            <a:ext cx="1965960" cy="914400"/>
          </a:xfrm>
          <a:prstGeom prst="rect">
            <a:avLst/>
          </a:prstGeom>
          <a:solidFill>
            <a:srgbClr val="152942"/>
          </a:solidFill>
          <a:ln w="12700">
            <a:solidFill>
              <a:srgbClr val="15294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457200" y="3858768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2C39A"/>
                </a:solidFill>
              </a:rPr>
              <a:t>10,017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57200" y="429768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</a:rPr>
              <a:t>Registros analizados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651760" y="3840480"/>
            <a:ext cx="1965960" cy="914400"/>
          </a:xfrm>
          <a:prstGeom prst="rect">
            <a:avLst/>
          </a:prstGeom>
          <a:solidFill>
            <a:srgbClr val="152942"/>
          </a:solidFill>
          <a:ln w="12700">
            <a:solidFill>
              <a:srgbClr val="15294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2651760" y="3858768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2C39A"/>
                </a:solidFill>
              </a:rPr>
              <a:t>9,442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2651760" y="429768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</a:rPr>
              <a:t>Registros finales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846320" y="3840480"/>
            <a:ext cx="1965960" cy="914400"/>
          </a:xfrm>
          <a:prstGeom prst="rect">
            <a:avLst/>
          </a:prstGeom>
          <a:solidFill>
            <a:srgbClr val="152942"/>
          </a:solidFill>
          <a:ln w="12700">
            <a:solidFill>
              <a:srgbClr val="15294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4846320" y="3858768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2C39A"/>
                </a:solidFill>
              </a:rPr>
              <a:t>2018–2026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0" y="429768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</a:rPr>
              <a:t>Años de datos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040880" y="3840480"/>
            <a:ext cx="1965960" cy="914400"/>
          </a:xfrm>
          <a:prstGeom prst="rect">
            <a:avLst/>
          </a:prstGeom>
          <a:solidFill>
            <a:srgbClr val="152942"/>
          </a:solidFill>
          <a:ln w="12700">
            <a:solidFill>
              <a:srgbClr val="15294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/>
          <p:nvPr/>
        </p:nvSpPr>
        <p:spPr>
          <a:xfrm>
            <a:off x="7040880" y="3858768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2C39A"/>
                </a:solidFill>
              </a:rPr>
              <a:t>954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040880" y="429768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</a:rPr>
              <a:t>Urgencias clínicas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 la presentación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411480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502920" cy="10515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365760" y="1188720"/>
            <a:ext cx="502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01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60120" y="128016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</a:rPr>
              <a:t>El Problema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0120" y="1572768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Desabastecimiento de medicamentos críticos en Colombia: falla estructural, no logística.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846320" y="1188720"/>
            <a:ext cx="411480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1" name="Shape 9"/>
          <p:cNvSpPr/>
          <p:nvPr/>
        </p:nvSpPr>
        <p:spPr>
          <a:xfrm>
            <a:off x="4846320" y="1188720"/>
            <a:ext cx="502920" cy="10515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4846320" y="1188720"/>
            <a:ext cx="502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02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440680" y="128016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</a:rPr>
              <a:t>Nuestra Solución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40680" y="1572768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Arquitectura de datos de extremo a extremo: ingesta, limpieza, gobierno y dashboard.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2423160"/>
            <a:ext cx="411480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6" name="Shape 14"/>
          <p:cNvSpPr/>
          <p:nvPr/>
        </p:nvSpPr>
        <p:spPr>
          <a:xfrm>
            <a:off x="365760" y="2423160"/>
            <a:ext cx="502920" cy="10515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365760" y="2423160"/>
            <a:ext cx="502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03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960120" y="251460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</a:rPr>
              <a:t>Pipeline de Datos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60120" y="2807208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Validación con Pandera, 10 reglas de calidad, 0.6 % de rechazo.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846320" y="2423160"/>
            <a:ext cx="411480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1" name="Shape 19"/>
          <p:cNvSpPr/>
          <p:nvPr/>
        </p:nvSpPr>
        <p:spPr>
          <a:xfrm>
            <a:off x="4846320" y="2423160"/>
            <a:ext cx="502920" cy="10515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/>
          <p:nvPr/>
        </p:nvSpPr>
        <p:spPr>
          <a:xfrm>
            <a:off x="4846320" y="2423160"/>
            <a:ext cx="502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04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5440680" y="251460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</a:rPr>
              <a:t>Tratamiento de Duplicados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40680" y="2807208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Criterios diferenciados: eliminar errores, conservar señal clínica real.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65760" y="3657600"/>
            <a:ext cx="411480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6" name="Shape 24"/>
          <p:cNvSpPr/>
          <p:nvPr/>
        </p:nvSpPr>
        <p:spPr>
          <a:xfrm>
            <a:off x="365760" y="3657600"/>
            <a:ext cx="502920" cy="10515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7" name="Text 25"/>
          <p:cNvSpPr/>
          <p:nvPr/>
        </p:nvSpPr>
        <p:spPr>
          <a:xfrm>
            <a:off x="365760" y="3657600"/>
            <a:ext cx="502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05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960120" y="374904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</a:rPr>
              <a:t>Hallazgos del EDA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60120" y="4041648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Tendencia +137 % (2020→2024), concentración en 3 importadores, enfermedades huérfanas.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846320" y="3657600"/>
            <a:ext cx="411480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1" name="Shape 29"/>
          <p:cNvSpPr/>
          <p:nvPr/>
        </p:nvSpPr>
        <p:spPr>
          <a:xfrm>
            <a:off x="4846320" y="3657600"/>
            <a:ext cx="502920" cy="10515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2" name="Text 30"/>
          <p:cNvSpPr/>
          <p:nvPr/>
        </p:nvSpPr>
        <p:spPr>
          <a:xfrm>
            <a:off x="4846320" y="3657600"/>
            <a:ext cx="502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06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5440680" y="374904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</a:rPr>
              <a:t>Dashboard &amp; Decisiones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440680" y="4041648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Alertas por urgencia, KPIs institucionales y roadmap de implementación.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828"/>
          </a:solidFill>
          <a:ln w="12700">
            <a:solidFill>
              <a:srgbClr val="0A182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falla estructural, no solo logística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8412480" cy="1051560"/>
          </a:xfrm>
          <a:prstGeom prst="rect">
            <a:avLst/>
          </a:prstGeom>
          <a:solidFill>
            <a:srgbClr val="0A254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548640" y="1188720"/>
            <a:ext cx="8046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i="1" dirty="0">
                <a:solidFill>
                  <a:srgbClr val="02C39A"/>
                </a:solidFill>
              </a:rPr>
              <a:t>Colombia tiene los datos. Los medicamentos sí se reportan. El problema es que nadie los usa para anticipar la escasez.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365760" y="2377440"/>
            <a:ext cx="4023360" cy="1005840"/>
          </a:xfrm>
          <a:prstGeom prst="rect">
            <a:avLst/>
          </a:prstGeom>
          <a:solidFill>
            <a:srgbClr val="112233"/>
          </a:solidFill>
          <a:ln w="12700">
            <a:solidFill>
              <a:srgbClr val="1A335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502920" y="245059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⚠️  Reactivo, no preventivo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02920" y="278892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El sistema reacciona cuando el medicamento ya faltó. No hay modelo de anticipación.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54880" y="2377440"/>
            <a:ext cx="4023360" cy="1005840"/>
          </a:xfrm>
          <a:prstGeom prst="rect">
            <a:avLst/>
          </a:prstGeom>
          <a:solidFill>
            <a:srgbClr val="112233"/>
          </a:solidFill>
          <a:ln w="12700">
            <a:solidFill>
              <a:srgbClr val="1A335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4892040" y="245059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🔀  Silos de información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892040" y="278892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Procesos, analítica y decisiones directivas operan desconectados entre sí.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" y="3566160"/>
            <a:ext cx="4023360" cy="1005840"/>
          </a:xfrm>
          <a:prstGeom prst="rect">
            <a:avLst/>
          </a:prstGeom>
          <a:solidFill>
            <a:srgbClr val="112233"/>
          </a:solidFill>
          <a:ln w="12700">
            <a:solidFill>
              <a:srgbClr val="1A335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502920" y="363931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💸  Costos de emergencia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02920" y="397764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Importaciones urgentes y compras de último minuto elevan costos operativos.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754880" y="3566160"/>
            <a:ext cx="4023360" cy="1005840"/>
          </a:xfrm>
          <a:prstGeom prst="rect">
            <a:avLst/>
          </a:prstGeom>
          <a:solidFill>
            <a:srgbClr val="112233"/>
          </a:solidFill>
          <a:ln w="12700">
            <a:solidFill>
              <a:srgbClr val="1A335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4892040" y="363931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📋  Sin código CIE-10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892040" y="397764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Registros sin diagnóstico clínico impiden planificar por patología y estacionalidad.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Nuestra Solución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 datos de extremo a extremo — de la reactividad a la proactividad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1508760" cy="2560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320040" y="132588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INGESTA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02920" y="1828800"/>
            <a:ext cx="1143000" cy="0"/>
          </a:xfrm>
          <a:prstGeom prst="line">
            <a:avLst/>
          </a:prstGeom>
          <a:noFill/>
          <a:ln w="635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393192" y="192024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INVIMA / datos.gov.co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API REST + CSV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828800" y="2286000"/>
            <a:ext cx="228600" cy="27432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1828800" y="2267712"/>
            <a:ext cx="228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99999"/>
                </a:solidFill>
              </a:rPr>
              <a:t>▶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057400" y="1234440"/>
            <a:ext cx="1508760" cy="25603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2057400" y="132588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BRONZE / RAW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240280" y="1828800"/>
            <a:ext cx="1143000" cy="0"/>
          </a:xfrm>
          <a:prstGeom prst="line">
            <a:avLst/>
          </a:prstGeom>
          <a:noFill/>
          <a:ln w="635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2130552" y="192024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CSV original sin transformar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Acceso restringido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566160" y="2286000"/>
            <a:ext cx="228600" cy="27432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3566160" y="2267712"/>
            <a:ext cx="228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99999"/>
                </a:solidFill>
              </a:rPr>
              <a:t>▶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794760" y="1234440"/>
            <a:ext cx="1508760" cy="2560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3794760" y="132588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SILVER / CLEAN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977640" y="1828800"/>
            <a:ext cx="1143000" cy="0"/>
          </a:xfrm>
          <a:prstGeom prst="line">
            <a:avLst/>
          </a:prstGeom>
          <a:noFill/>
          <a:ln w="635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3867912" y="192024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Pipeline Python + Pandera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10 reglas de calidad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303520" y="2286000"/>
            <a:ext cx="228600" cy="27432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/>
          <p:nvPr/>
        </p:nvSpPr>
        <p:spPr>
          <a:xfrm>
            <a:off x="5303520" y="2267712"/>
            <a:ext cx="228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99999"/>
                </a:solidFill>
              </a:rPr>
              <a:t>▶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532120" y="1234440"/>
            <a:ext cx="1508760" cy="25603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Text 22"/>
          <p:cNvSpPr/>
          <p:nvPr/>
        </p:nvSpPr>
        <p:spPr>
          <a:xfrm>
            <a:off x="5532120" y="132588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GOLD / FINAL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715000" y="1828800"/>
            <a:ext cx="1143000" cy="0"/>
          </a:xfrm>
          <a:prstGeom prst="line">
            <a:avLst/>
          </a:prstGeom>
          <a:noFill/>
          <a:ln w="635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Text 24"/>
          <p:cNvSpPr/>
          <p:nvPr/>
        </p:nvSpPr>
        <p:spPr>
          <a:xfrm>
            <a:off x="5605272" y="192024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Dataset sin duplicados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9,442 registros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7040880" y="2286000"/>
            <a:ext cx="228600" cy="27432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8" name="Text 26"/>
          <p:cNvSpPr/>
          <p:nvPr/>
        </p:nvSpPr>
        <p:spPr>
          <a:xfrm>
            <a:off x="7040880" y="2267712"/>
            <a:ext cx="228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99999"/>
                </a:solidFill>
              </a:rPr>
              <a:t>▶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269480" y="1234440"/>
            <a:ext cx="1508760" cy="256032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0" name="Text 28"/>
          <p:cNvSpPr/>
          <p:nvPr/>
        </p:nvSpPr>
        <p:spPr>
          <a:xfrm>
            <a:off x="7269480" y="132588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DASHBOARD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7452360" y="1828800"/>
            <a:ext cx="1143000" cy="0"/>
          </a:xfrm>
          <a:prstGeom prst="line">
            <a:avLst/>
          </a:prstGeom>
          <a:noFill/>
          <a:ln w="635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2" name="Text 30"/>
          <p:cNvSpPr/>
          <p:nvPr/>
        </p:nvSpPr>
        <p:spPr>
          <a:xfrm>
            <a:off x="7342632" y="192024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Plotly Dash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Alertas por urgencia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20040" y="4023360"/>
            <a:ext cx="196596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4" name="Shape 32"/>
          <p:cNvSpPr/>
          <p:nvPr/>
        </p:nvSpPr>
        <p:spPr>
          <a:xfrm>
            <a:off x="320040" y="4023360"/>
            <a:ext cx="54864" cy="8229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5" name="Text 33"/>
          <p:cNvSpPr/>
          <p:nvPr/>
        </p:nvSpPr>
        <p:spPr>
          <a:xfrm>
            <a:off x="457200" y="4059936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172A"/>
                </a:solidFill>
              </a:rPr>
              <a:t>Estrategia Predictiva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57200" y="431596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Anticipar desabastecimientos con datos históricos y modelos de tendencia.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2468880" y="4023360"/>
            <a:ext cx="196596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8" name="Shape 36"/>
          <p:cNvSpPr/>
          <p:nvPr/>
        </p:nvSpPr>
        <p:spPr>
          <a:xfrm>
            <a:off x="2468880" y="4023360"/>
            <a:ext cx="54864" cy="8229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9" name="Text 37"/>
          <p:cNvSpPr/>
          <p:nvPr/>
        </p:nvSpPr>
        <p:spPr>
          <a:xfrm>
            <a:off x="2606040" y="4059936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172A"/>
                </a:solidFill>
              </a:rPr>
              <a:t>Automatización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2606040" y="431596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Reducir la carga manual en seguimiento y reporte de alertas sanitarias.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4617720" y="4023360"/>
            <a:ext cx="196596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42" name="Shape 40"/>
          <p:cNvSpPr/>
          <p:nvPr/>
        </p:nvSpPr>
        <p:spPr>
          <a:xfrm>
            <a:off x="4617720" y="4023360"/>
            <a:ext cx="54864" cy="8229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3" name="Text 41"/>
          <p:cNvSpPr/>
          <p:nvPr/>
        </p:nvSpPr>
        <p:spPr>
          <a:xfrm>
            <a:off x="4754880" y="4059936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172A"/>
                </a:solidFill>
              </a:rPr>
              <a:t>Calidad del Dato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4754880" y="431596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Gobierno con roles definidos: Analyst, Engineer, Steward, BI.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6766560" y="4023360"/>
            <a:ext cx="196596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46" name="Shape 44"/>
          <p:cNvSpPr/>
          <p:nvPr/>
        </p:nvSpPr>
        <p:spPr>
          <a:xfrm>
            <a:off x="6766560" y="4023360"/>
            <a:ext cx="54864" cy="8229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7" name="Text 45"/>
          <p:cNvSpPr/>
          <p:nvPr/>
        </p:nvSpPr>
        <p:spPr>
          <a:xfrm>
            <a:off x="6903720" y="4059936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172A"/>
                </a:solidFill>
              </a:rPr>
              <a:t>Decisión Basada en Datos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6903720" y="431596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KPIs formalizados y roadmap de 0–3 años para institucionalización.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 Datos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automatizada con Pandera — 10 reglas de calidad activas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1965960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320040" y="1188720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10,017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20040" y="1719072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Filas originales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496312" y="1143000"/>
            <a:ext cx="1965960" cy="100584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2496312" y="1188720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9,955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496312" y="1719072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Filas válidas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672584" y="1143000"/>
            <a:ext cx="1965960" cy="10058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4672584" y="1188720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62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672584" y="1719072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Rechazadas (0.6%)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848856" y="1143000"/>
            <a:ext cx="1965960" cy="100584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6848856" y="1188720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9,442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848856" y="1719072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Dataset final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2423160"/>
            <a:ext cx="260604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8" name="Shape 16"/>
          <p:cNvSpPr/>
          <p:nvPr/>
        </p:nvSpPr>
        <p:spPr>
          <a:xfrm>
            <a:off x="429768" y="2624328"/>
            <a:ext cx="411480" cy="4114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429768" y="26243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14400" y="251460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</a:rPr>
              <a:t>Normalización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914400" y="2825496"/>
            <a:ext cx="19659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Mayúsculas, sin tildes, espacios múltiples, unidades de medida (MG/ML, MCG).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154680" y="2423160"/>
            <a:ext cx="260604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3" name="Shape 21"/>
          <p:cNvSpPr/>
          <p:nvPr/>
        </p:nvSpPr>
        <p:spPr>
          <a:xfrm>
            <a:off x="3264408" y="2624328"/>
            <a:ext cx="411480" cy="4114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Text 22"/>
          <p:cNvSpPr/>
          <p:nvPr/>
        </p:nvSpPr>
        <p:spPr>
          <a:xfrm>
            <a:off x="3264408" y="26243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749040" y="251460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</a:rPr>
              <a:t>Conversión de tipos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749040" y="2825496"/>
            <a:ext cx="19659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Fechas → ISO 8601. Cantidades → float64. Comas como miles eliminadas.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989320" y="2423160"/>
            <a:ext cx="260604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8" name="Shape 26"/>
          <p:cNvSpPr/>
          <p:nvPr/>
        </p:nvSpPr>
        <p:spPr>
          <a:xfrm>
            <a:off x="6099048" y="2624328"/>
            <a:ext cx="411480" cy="4114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9" name="Text 27"/>
          <p:cNvSpPr/>
          <p:nvPr/>
        </p:nvSpPr>
        <p:spPr>
          <a:xfrm>
            <a:off x="6099048" y="26243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583680" y="251460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</a:rPr>
              <a:t>Variable derivada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583680" y="2825496"/>
            <a:ext cx="19659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nivel_urgencia derivado de tipo_de_solicitud como proxy de criticidad clínica.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20040" y="3611880"/>
            <a:ext cx="260604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3" name="Shape 31"/>
          <p:cNvSpPr/>
          <p:nvPr/>
        </p:nvSpPr>
        <p:spPr>
          <a:xfrm>
            <a:off x="429768" y="3813048"/>
            <a:ext cx="411480" cy="4114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4" name="Text 32"/>
          <p:cNvSpPr/>
          <p:nvPr/>
        </p:nvSpPr>
        <p:spPr>
          <a:xfrm>
            <a:off x="429768" y="38130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14400" y="370332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</a:rPr>
              <a:t>Validación Pandera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914400" y="4014216"/>
            <a:ext cx="19659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Schema con 10 reglas. Registros inválidos separados con razón del error.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154680" y="3611880"/>
            <a:ext cx="260604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8" name="Shape 36"/>
          <p:cNvSpPr/>
          <p:nvPr/>
        </p:nvSpPr>
        <p:spPr>
          <a:xfrm>
            <a:off x="3264408" y="3813048"/>
            <a:ext cx="411480" cy="4114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9" name="Text 37"/>
          <p:cNvSpPr/>
          <p:nvPr/>
        </p:nvSpPr>
        <p:spPr>
          <a:xfrm>
            <a:off x="3264408" y="38130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3749040" y="370332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</a:rPr>
              <a:t>Separación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3749040" y="4014216"/>
            <a:ext cx="19659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dataset_clean.csv (válidos) + dataset_rejected.csv (rechazados con motivo).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5989320" y="2423160"/>
            <a:ext cx="2834640" cy="1005840"/>
          </a:xfrm>
          <a:prstGeom prst="rect">
            <a:avLst/>
          </a:prstGeom>
          <a:solidFill>
            <a:srgbClr val="FFF8F0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3" name="Text 41"/>
          <p:cNvSpPr/>
          <p:nvPr/>
        </p:nvSpPr>
        <p:spPr>
          <a:xfrm>
            <a:off x="6080760" y="248716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A261"/>
                </a:solidFill>
              </a:rPr>
              <a:t>⚠  Principales errores detectados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080760" y="278892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172A"/>
                </a:solidFill>
              </a:rPr>
              <a:t>59 registros  </a:t>
            </a:r>
            <a:r>
              <a:rPr lang="en-US" sz="850" dirty="0">
                <a:solidFill>
                  <a:srgbClr val="0F172A"/>
                </a:solidFill>
              </a:rPr>
              <a:t>cantidad_solicitada nula
</a:t>
            </a:r>
            <a:r>
              <a:rPr lang="en-US" sz="850" b="1" dirty="0">
                <a:solidFill>
                  <a:srgbClr val="0F172A"/>
                </a:solidFill>
              </a:rPr>
              <a:t>2 registros  </a:t>
            </a:r>
            <a:r>
              <a:rPr lang="en-US" sz="850" dirty="0">
                <a:solidFill>
                  <a:srgbClr val="0F172A"/>
                </a:solidFill>
              </a:rPr>
              <a:t>código CIE-10 muy corto
</a:t>
            </a:r>
            <a:r>
              <a:rPr lang="en-US" sz="850" b="1" dirty="0">
                <a:solidFill>
                  <a:srgbClr val="0F172A"/>
                </a:solidFill>
              </a:rPr>
              <a:t>1 registro  </a:t>
            </a:r>
            <a:r>
              <a:rPr lang="en-US" sz="850" dirty="0">
                <a:solidFill>
                  <a:srgbClr val="0F172A"/>
                </a:solidFill>
              </a:rPr>
              <a:t>fecha de autorización futura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828"/>
          </a:solidFill>
          <a:ln w="12700">
            <a:solidFill>
              <a:srgbClr val="0A182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Gobierno de Datos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Roles, catálogo de 14 campos y 10 reglas de calidad formalizadas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1965960" cy="411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320040" y="118872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Data Analyst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0040" y="1600200"/>
            <a:ext cx="1965960" cy="868680"/>
          </a:xfrm>
          <a:prstGeom prst="rect">
            <a:avLst/>
          </a:prstGeom>
          <a:solidFill>
            <a:srgbClr val="112233"/>
          </a:solidFill>
          <a:ln w="12700">
            <a:solidFill>
              <a:srgbClr val="1A335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411480" y="1664208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</a:rPr>
              <a:t>Identificar fuentes, definir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</a:rPr>
              <a:t>requisitos de negocio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68880" y="1188720"/>
            <a:ext cx="1965960" cy="4114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2468880" y="118872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Data Engineer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468880" y="1600200"/>
            <a:ext cx="1965960" cy="868680"/>
          </a:xfrm>
          <a:prstGeom prst="rect">
            <a:avLst/>
          </a:prstGeom>
          <a:solidFill>
            <a:srgbClr val="112233"/>
          </a:solidFill>
          <a:ln w="12700">
            <a:solidFill>
              <a:srgbClr val="1A335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2560320" y="1664208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</a:rPr>
              <a:t>Extraer, cargar, validar datos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</a:rPr>
              <a:t>(Bronze/Raw). Corrección técnica.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17720" y="1188720"/>
            <a:ext cx="1965960" cy="411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4617720" y="118872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Data Steward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617720" y="1600200"/>
            <a:ext cx="1965960" cy="868680"/>
          </a:xfrm>
          <a:prstGeom prst="rect">
            <a:avLst/>
          </a:prstGeom>
          <a:solidFill>
            <a:srgbClr val="112233"/>
          </a:solidFill>
          <a:ln w="12700">
            <a:solidFill>
              <a:srgbClr val="1A335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4709160" y="1664208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</a:rPr>
              <a:t>Reglas de calidad, catálogo,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</a:rPr>
              <a:t>gestión de políticas.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766560" y="1188720"/>
            <a:ext cx="1965960" cy="4114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6766560" y="118872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Plataforma BI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766560" y="1600200"/>
            <a:ext cx="1965960" cy="868680"/>
          </a:xfrm>
          <a:prstGeom prst="rect">
            <a:avLst/>
          </a:prstGeom>
          <a:solidFill>
            <a:srgbClr val="112233"/>
          </a:solidFill>
          <a:ln w="12700">
            <a:solidFill>
              <a:srgbClr val="1A335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6858000" y="1664208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</a:rPr>
              <a:t>Publicar Gold, dashboards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</a:rPr>
              <a:t>y alertas tempranas.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20040" y="265176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</a:rPr>
              <a:t>Estándares de Datos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11480" y="3063240"/>
            <a:ext cx="4023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28090"/>
                </a:solidFill>
              </a:rPr>
              <a:t>● </a:t>
            </a:r>
            <a:r>
              <a:rPr lang="en-US" sz="950" dirty="0">
                <a:solidFill>
                  <a:srgbClr val="CBD5E1"/>
                </a:solidFill>
              </a:rPr>
              <a:t>Texto: MAYÚSCULAS sin tildes, sin espacios múltiples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11480" y="3337560"/>
            <a:ext cx="4023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28090"/>
                </a:solidFill>
              </a:rPr>
              <a:t>● </a:t>
            </a:r>
            <a:r>
              <a:rPr lang="en-US" sz="950" dirty="0">
                <a:solidFill>
                  <a:srgbClr val="CBD5E1"/>
                </a:solidFill>
              </a:rPr>
              <a:t>Fechas: ISO 8601 (YYYY-MM-DD). Solo desde 2018-01-01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11480" y="3611880"/>
            <a:ext cx="4023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28090"/>
                </a:solidFill>
              </a:rPr>
              <a:t>● </a:t>
            </a:r>
            <a:r>
              <a:rPr lang="en-US" sz="950" dirty="0">
                <a:solidFill>
                  <a:srgbClr val="CBD5E1"/>
                </a:solidFill>
              </a:rPr>
              <a:t>Cantidades: float64, siempre &gt; 0, comas eliminadas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11480" y="3886200"/>
            <a:ext cx="4023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28090"/>
                </a:solidFill>
              </a:rPr>
              <a:t>● </a:t>
            </a:r>
            <a:r>
              <a:rPr lang="en-US" sz="950" dirty="0">
                <a:solidFill>
                  <a:srgbClr val="CBD5E1"/>
                </a:solidFill>
              </a:rPr>
              <a:t>Unidades: MG/ML, MCG (no UG/µ), UI normalizado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11480" y="4160520"/>
            <a:ext cx="4023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28090"/>
                </a:solidFill>
              </a:rPr>
              <a:t>● </a:t>
            </a:r>
            <a:r>
              <a:rPr lang="en-US" sz="950" dirty="0">
                <a:solidFill>
                  <a:srgbClr val="CBD5E1"/>
                </a:solidFill>
              </a:rPr>
              <a:t>Código Python 3.12, PEP 8, docstrings en funciones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663440" y="2606040"/>
            <a:ext cx="4114800" cy="2286000"/>
          </a:xfrm>
          <a:prstGeom prst="rect">
            <a:avLst/>
          </a:prstGeom>
          <a:solidFill>
            <a:srgbClr val="0A254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8" name="Text 26"/>
          <p:cNvSpPr/>
          <p:nvPr/>
        </p:nvSpPr>
        <p:spPr>
          <a:xfrm>
            <a:off x="4800600" y="26974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</a:rPr>
              <a:t>Seguridad &amp; Privacidad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754880" y="3154680"/>
            <a:ext cx="640080" cy="2926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0" name="Text 28"/>
          <p:cNvSpPr/>
          <p:nvPr/>
        </p:nvSpPr>
        <p:spPr>
          <a:xfrm>
            <a:off x="4754880" y="3154680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Bronze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486400" y="31729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</a:rPr>
              <a:t>Solo equipo ingeniería — datos sin validar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754880" y="3557016"/>
            <a:ext cx="640080" cy="2926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3" name="Text 31"/>
          <p:cNvSpPr/>
          <p:nvPr/>
        </p:nvSpPr>
        <p:spPr>
          <a:xfrm>
            <a:off x="4754880" y="3557016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Silver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486400" y="357530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</a:rPr>
              <a:t>Data Steward + analítica — post validación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754880" y="3959352"/>
            <a:ext cx="640080" cy="2926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6" name="Text 34"/>
          <p:cNvSpPr/>
          <p:nvPr/>
        </p:nvSpPr>
        <p:spPr>
          <a:xfrm>
            <a:off x="4754880" y="3959352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Gold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486400" y="39776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</a:rPr>
              <a:t>Acceso abierto equipo BI y decisores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754880" y="4361688"/>
            <a:ext cx="640080" cy="2926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9" name="Text 37"/>
          <p:cNvSpPr/>
          <p:nvPr/>
        </p:nvSpPr>
        <p:spPr>
          <a:xfrm>
            <a:off x="4754880" y="436168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Personal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5486400" y="437997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</a:rPr>
              <a:t>Sin datos de pacientes identificables — Ley 1581/2012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Tratamiento de Duplicados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Clasificación inteligente — no todo duplicado es un error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8503920" cy="338328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411480" y="1133856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Criterio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280160" y="113385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Condición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577840" y="113385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Decisión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132320" y="113385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Registros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" y="1435608"/>
            <a:ext cx="85039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Shape 9"/>
          <p:cNvSpPr/>
          <p:nvPr/>
        </p:nvSpPr>
        <p:spPr>
          <a:xfrm>
            <a:off x="320040" y="1517904"/>
            <a:ext cx="658368" cy="274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320040" y="1517904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C1-B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097280" y="1508760"/>
            <a:ext cx="4389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</a:rPr>
              <a:t>+ de 2 registros idénticos mismo día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532120" y="1517904"/>
            <a:ext cx="1188720" cy="27432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5532120" y="151790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ELIMINAR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7178040" y="1508760"/>
            <a:ext cx="1280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F172A"/>
                </a:solidFill>
              </a:rPr>
              <a:t>~400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1911096"/>
            <a:ext cx="8503920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Shape 16"/>
          <p:cNvSpPr/>
          <p:nvPr/>
        </p:nvSpPr>
        <p:spPr>
          <a:xfrm>
            <a:off x="320040" y="1993392"/>
            <a:ext cx="658368" cy="274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320040" y="1993392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C1-C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097280" y="1984248"/>
            <a:ext cx="4389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</a:rPr>
              <a:t>2 registros, cantidad &gt; 1,000 unidades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532120" y="1993392"/>
            <a:ext cx="1188720" cy="2743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/>
          <p:nvPr/>
        </p:nvSpPr>
        <p:spPr>
          <a:xfrm>
            <a:off x="5532120" y="199339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ELIMINAR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7178040" y="1984248"/>
            <a:ext cx="1280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F172A"/>
                </a:solidFill>
              </a:rPr>
              <a:t>79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0040" y="2386584"/>
            <a:ext cx="85039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Shape 23"/>
          <p:cNvSpPr/>
          <p:nvPr/>
        </p:nvSpPr>
        <p:spPr>
          <a:xfrm>
            <a:off x="320040" y="2468880"/>
            <a:ext cx="658368" cy="274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Text 24"/>
          <p:cNvSpPr/>
          <p:nvPr/>
        </p:nvSpPr>
        <p:spPr>
          <a:xfrm>
            <a:off x="320040" y="246888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C1-D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097280" y="2459736"/>
            <a:ext cx="4389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</a:rPr>
              <a:t>Urgencia clínica — cualquier caso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532120" y="2468880"/>
            <a:ext cx="1188720" cy="27432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9" name="Text 27"/>
          <p:cNvSpPr/>
          <p:nvPr/>
        </p:nvSpPr>
        <p:spPr>
          <a:xfrm>
            <a:off x="5532120" y="24688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CONSERVAR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7178040" y="2459736"/>
            <a:ext cx="1280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F172A"/>
                </a:solidFill>
              </a:rPr>
              <a:t>38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20040" y="2862072"/>
            <a:ext cx="8503920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2" name="Shape 30"/>
          <p:cNvSpPr/>
          <p:nvPr/>
        </p:nvSpPr>
        <p:spPr>
          <a:xfrm>
            <a:off x="320040" y="2944368"/>
            <a:ext cx="658368" cy="274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3" name="Text 31"/>
          <p:cNvSpPr/>
          <p:nvPr/>
        </p:nvSpPr>
        <p:spPr>
          <a:xfrm>
            <a:off x="320040" y="2944368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C1-E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1097280" y="2935224"/>
            <a:ext cx="4389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</a:rPr>
              <a:t>2 registros, cantidad ≤ 100 unidades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532120" y="2944368"/>
            <a:ext cx="1188720" cy="27432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6" name="Text 34"/>
          <p:cNvSpPr/>
          <p:nvPr/>
        </p:nvSpPr>
        <p:spPr>
          <a:xfrm>
            <a:off x="5532120" y="294436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CONSERVAR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7178040" y="2935224"/>
            <a:ext cx="1280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F172A"/>
                </a:solidFill>
              </a:rPr>
              <a:t>462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20040" y="3337560"/>
            <a:ext cx="85039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9" name="Shape 37"/>
          <p:cNvSpPr/>
          <p:nvPr/>
        </p:nvSpPr>
        <p:spPr>
          <a:xfrm>
            <a:off x="320040" y="3419856"/>
            <a:ext cx="658368" cy="274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0" name="Text 38"/>
          <p:cNvSpPr/>
          <p:nvPr/>
        </p:nvSpPr>
        <p:spPr>
          <a:xfrm>
            <a:off x="320040" y="3419856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C2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1097280" y="3410712"/>
            <a:ext cx="4389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</a:rPr>
              <a:t>Cantidades distintas mismo día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5532120" y="3419856"/>
            <a:ext cx="1188720" cy="27432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3" name="Text 41"/>
          <p:cNvSpPr/>
          <p:nvPr/>
        </p:nvSpPr>
        <p:spPr>
          <a:xfrm>
            <a:off x="5532120" y="341985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CONSERVAR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7178040" y="3410712"/>
            <a:ext cx="1280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F172A"/>
                </a:solidFill>
              </a:rPr>
              <a:t>~2,860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320040" y="3813048"/>
            <a:ext cx="8503920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6" name="Shape 44"/>
          <p:cNvSpPr/>
          <p:nvPr/>
        </p:nvSpPr>
        <p:spPr>
          <a:xfrm>
            <a:off x="320040" y="3895344"/>
            <a:ext cx="658368" cy="274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7" name="Text 45"/>
          <p:cNvSpPr/>
          <p:nvPr/>
        </p:nvSpPr>
        <p:spPr>
          <a:xfrm>
            <a:off x="320040" y="3895344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AMB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1097280" y="3886200"/>
            <a:ext cx="4389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</a:rPr>
              <a:t>2 registros, cantidad 101–1,000 u.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5532120" y="3895344"/>
            <a:ext cx="1188720" cy="274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0" name="Text 48"/>
          <p:cNvSpPr/>
          <p:nvPr/>
        </p:nvSpPr>
        <p:spPr>
          <a:xfrm>
            <a:off x="5532120" y="389534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CONSERVAR*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7178040" y="3886200"/>
            <a:ext cx="1280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F172A"/>
                </a:solidFill>
              </a:rPr>
              <a:t>30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320040" y="4270248"/>
            <a:ext cx="8503920" cy="576072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3" name="Text 51"/>
          <p:cNvSpPr/>
          <p:nvPr/>
        </p:nvSpPr>
        <p:spPr>
          <a:xfrm>
            <a:off x="457200" y="41605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</a:rPr>
              <a:t>Resultado: </a:t>
            </a:r>
            <a:r>
              <a:rPr lang="en-US" sz="1050" b="1" dirty="0">
                <a:solidFill>
                  <a:srgbClr val="02C39A"/>
                </a:solidFill>
              </a:rPr>
              <a:t>9,955 → 9,442 registros  </a:t>
            </a:r>
            <a:r>
              <a:rPr lang="en-US" sz="1050" dirty="0">
                <a:solidFill>
                  <a:srgbClr val="CBD5E1"/>
                </a:solidFill>
              </a:rPr>
              <a:t>(513 eliminados, 4.8 % reducción)  </a:t>
            </a:r>
            <a:r>
              <a:rPr lang="en-US" sz="1050" i="1" dirty="0">
                <a:solidFill>
                  <a:srgbClr val="F4A261"/>
                </a:solidFill>
              </a:rPr>
              <a:t>★ Principio conservador: costo asimétrico del error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828"/>
          </a:solidFill>
          <a:ln w="12700">
            <a:solidFill>
              <a:srgbClr val="0A182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Hallazgos del EDA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Patrones críticos identificados en los datos de INVIMA 2018–2026</a:t>
            </a:r>
            <a:endParaRPr lang="en-US" sz="12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20040" y="1097280"/>
          <a:ext cx="502920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577840" y="1097280"/>
            <a:ext cx="3200400" cy="804672"/>
          </a:xfrm>
          <a:prstGeom prst="rect">
            <a:avLst/>
          </a:prstGeom>
          <a:solidFill>
            <a:srgbClr val="112233"/>
          </a:solidFill>
          <a:ln w="12700">
            <a:solidFill>
              <a:srgbClr val="1A335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4"/>
          <p:cNvSpPr/>
          <p:nvPr/>
        </p:nvSpPr>
        <p:spPr>
          <a:xfrm>
            <a:off x="5623560" y="1188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📈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6172200" y="1133856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28090"/>
                </a:solidFill>
              </a:rPr>
              <a:t>+137 %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172200" y="151790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Crecimiento 2020→2024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577840" y="2011680"/>
            <a:ext cx="3200400" cy="804672"/>
          </a:xfrm>
          <a:prstGeom prst="rect">
            <a:avLst/>
          </a:prstGeom>
          <a:solidFill>
            <a:srgbClr val="112233"/>
          </a:solidFill>
          <a:ln w="12700">
            <a:solidFill>
              <a:srgbClr val="1A335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8"/>
          <p:cNvSpPr/>
          <p:nvPr/>
        </p:nvSpPr>
        <p:spPr>
          <a:xfrm>
            <a:off x="562356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🏥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6172200" y="2048256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65A82"/>
                </a:solidFill>
              </a:rPr>
              <a:t>29.9 %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6172200" y="243230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Top 3 importadores concentran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577840" y="2926080"/>
            <a:ext cx="3200400" cy="804672"/>
          </a:xfrm>
          <a:prstGeom prst="rect">
            <a:avLst/>
          </a:prstGeom>
          <a:solidFill>
            <a:srgbClr val="112233"/>
          </a:solidFill>
          <a:ln w="12700">
            <a:solidFill>
              <a:srgbClr val="1A335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2"/>
          <p:cNvSpPr/>
          <p:nvPr/>
        </p:nvSpPr>
        <p:spPr>
          <a:xfrm>
            <a:off x="5623560" y="3017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🧬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6172200" y="2962656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28090"/>
                </a:solidFill>
              </a:rPr>
              <a:t>1,129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6172200" y="334670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casos Distrofia Muscular (#1)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5577840" y="3840480"/>
            <a:ext cx="3200400" cy="804672"/>
          </a:xfrm>
          <a:prstGeom prst="rect">
            <a:avLst/>
          </a:prstGeom>
          <a:solidFill>
            <a:srgbClr val="112233"/>
          </a:solidFill>
          <a:ln w="12700">
            <a:solidFill>
              <a:srgbClr val="1A335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6"/>
          <p:cNvSpPr/>
          <p:nvPr/>
        </p:nvSpPr>
        <p:spPr>
          <a:xfrm>
            <a:off x="5623560" y="3931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🚨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6172200" y="3877056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3946"/>
                </a:solidFill>
              </a:rPr>
              <a:t>954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6172200" y="426110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urgencias clínicas ALTA</a:t>
            </a:r>
            <a:endParaRPr lang="en-US" sz="950" dirty="0"/>
          </a:p>
        </p:txBody>
      </p:sp>
      <p:graphicFrame>
        <p:nvGraphicFramePr>
          <p:cNvPr id="22" name="Chart 1"/>
          <p:cNvGraphicFramePr/>
          <p:nvPr>
            <p:extLst>
              <p:ext uri="{D42A27DB-BD31-4B8C-83A1-F6EECF244321}">
                <p14:modId xmlns:p14="http://schemas.microsoft.com/office/powerpoint/2010/main" val="2396862959"/>
              </p:ext>
            </p:extLst>
          </p:nvPr>
        </p:nvGraphicFramePr>
        <p:xfrm>
          <a:off x="91440" y="3739896"/>
          <a:ext cx="2743200" cy="10789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3" name="Text 19"/>
          <p:cNvSpPr/>
          <p:nvPr/>
        </p:nvSpPr>
        <p:spPr>
          <a:xfrm>
            <a:off x="3429000" y="3584448"/>
            <a:ext cx="184921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BD5E1"/>
                </a:solidFill>
              </a:rPr>
              <a:t>Distribución por nivel de urgencia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2894648" y="3931920"/>
            <a:ext cx="22002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El 10.1 % corresponde a urgencias clínicas activas — pacientes en </a:t>
            </a:r>
            <a:r>
              <a:rPr lang="en-US" sz="950" dirty="0" err="1">
                <a:solidFill>
                  <a:srgbClr val="CBD5E1"/>
                </a:solidFill>
              </a:rPr>
              <a:t>riesgo</a:t>
            </a:r>
            <a:r>
              <a:rPr lang="en-US" sz="950" dirty="0">
                <a:solidFill>
                  <a:srgbClr val="CBD5E1"/>
                </a:solidFill>
              </a:rPr>
              <a:t> </a:t>
            </a:r>
          </a:p>
          <a:p>
            <a:pPr marL="0" indent="0">
              <a:buNone/>
            </a:pPr>
            <a:r>
              <a:rPr lang="en-US" sz="950" dirty="0" err="1">
                <a:solidFill>
                  <a:srgbClr val="CBD5E1"/>
                </a:solidFill>
              </a:rPr>
              <a:t>inmediato</a:t>
            </a:r>
            <a:r>
              <a:rPr lang="en-US" sz="950" dirty="0">
                <a:solidFill>
                  <a:srgbClr val="CBD5E1"/>
                </a:solidFill>
              </a:rPr>
              <a:t> sin alternativa terapéutica.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Medicamentos y Diagnósticos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Principios activos y enfermedades que concentran la mayor presión sobre el sistema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20040" y="10972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F3C"/>
                </a:solidFill>
              </a:rPr>
              <a:t>Top 8 Principios Activos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320040" y="1481328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</a:rPr>
              <a:t>ATALUREN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508760" y="1536192"/>
            <a:ext cx="3017520" cy="23774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4087368" y="1536192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</a:rPr>
              <a:t>914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20040" y="1892808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</a:rPr>
              <a:t>ELEXACAFTOR / TEZ / IVA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508760" y="1947672"/>
            <a:ext cx="2730294" cy="23774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3800142" y="1947672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</a:rPr>
              <a:t>827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20040" y="2304288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</a:rPr>
              <a:t>TOLVAPTAN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1508760" y="2359152"/>
            <a:ext cx="1327181" cy="23774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2397029" y="2359152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</a:rPr>
              <a:t>402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20040" y="2715768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</a:rPr>
              <a:t>LIDOCAÍNA CLORHIDRATO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508760" y="2770632"/>
            <a:ext cx="911199" cy="23774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1981047" y="2770632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</a:rPr>
              <a:t>276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20040" y="3127248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</a:rPr>
              <a:t>INMUNOGLOBULINA HUMANA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1508760" y="3182112"/>
            <a:ext cx="765935" cy="23774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1835783" y="3182112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</a:rPr>
              <a:t>232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20040" y="3538728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</a:rPr>
              <a:t>CLORURO DE POTASIO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1508760" y="3593592"/>
            <a:ext cx="739524" cy="23774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1809372" y="3593592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</a:rPr>
              <a:t>224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20040" y="3950208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</a:rPr>
              <a:t>VOSORITIDA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1508760" y="4005072"/>
            <a:ext cx="623973" cy="23774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Text 24"/>
          <p:cNvSpPr/>
          <p:nvPr/>
        </p:nvSpPr>
        <p:spPr>
          <a:xfrm>
            <a:off x="1693821" y="4005072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</a:rPr>
              <a:t>189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20040" y="4299313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</a:rPr>
              <a:t>BUROSUMAB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1513292" y="4369199"/>
            <a:ext cx="501820" cy="23774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CO" dirty="0"/>
          </a:p>
        </p:txBody>
      </p:sp>
      <p:sp>
        <p:nvSpPr>
          <p:cNvPr id="29" name="Text 27"/>
          <p:cNvSpPr/>
          <p:nvPr/>
        </p:nvSpPr>
        <p:spPr>
          <a:xfrm>
            <a:off x="1571668" y="4416552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</a:rPr>
              <a:t>152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846320" y="10972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F3C"/>
                </a:solidFill>
              </a:rPr>
              <a:t>Top 6 Diagnósticos CIE-10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846320" y="1481328"/>
            <a:ext cx="3931920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2" name="Shape 30"/>
          <p:cNvSpPr/>
          <p:nvPr/>
        </p:nvSpPr>
        <p:spPr>
          <a:xfrm>
            <a:off x="4846320" y="1481328"/>
            <a:ext cx="54864" cy="47548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3" name="Text 31"/>
          <p:cNvSpPr/>
          <p:nvPr/>
        </p:nvSpPr>
        <p:spPr>
          <a:xfrm>
            <a:off x="4983480" y="1508760"/>
            <a:ext cx="3017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172A"/>
                </a:solidFill>
              </a:rPr>
              <a:t>DISTROFIA MUSCULAR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983480" y="173736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1129 casos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8046720" y="1554480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E63946"/>
                </a:solidFill>
              </a:rPr>
              <a:t>1129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846320" y="2048256"/>
            <a:ext cx="3931920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7" name="Shape 35"/>
          <p:cNvSpPr/>
          <p:nvPr/>
        </p:nvSpPr>
        <p:spPr>
          <a:xfrm>
            <a:off x="4846320" y="2048256"/>
            <a:ext cx="54864" cy="47548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8" name="Text 36"/>
          <p:cNvSpPr/>
          <p:nvPr/>
        </p:nvSpPr>
        <p:spPr>
          <a:xfrm>
            <a:off x="4983480" y="2075688"/>
            <a:ext cx="3017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172A"/>
                </a:solidFill>
              </a:rPr>
              <a:t>FIBROSIS QUÍSTICA (pulmonar)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983480" y="2304288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466 casos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8046720" y="212140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4A261"/>
                </a:solidFill>
              </a:rPr>
              <a:t>466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846320" y="2615184"/>
            <a:ext cx="3931920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42" name="Shape 40"/>
          <p:cNvSpPr/>
          <p:nvPr/>
        </p:nvSpPr>
        <p:spPr>
          <a:xfrm>
            <a:off x="4846320" y="2615184"/>
            <a:ext cx="54864" cy="47548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3" name="Text 41"/>
          <p:cNvSpPr/>
          <p:nvPr/>
        </p:nvSpPr>
        <p:spPr>
          <a:xfrm>
            <a:off x="4983480" y="2642616"/>
            <a:ext cx="3017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172A"/>
                </a:solidFill>
              </a:rPr>
              <a:t>FIBROSIS QUÍSTICA (otros)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4983480" y="2871216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373 casos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8046720" y="2688336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4A261"/>
                </a:solidFill>
              </a:rPr>
              <a:t>373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4846320" y="3182112"/>
            <a:ext cx="3931920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47" name="Shape 45"/>
          <p:cNvSpPr/>
          <p:nvPr/>
        </p:nvSpPr>
        <p:spPr>
          <a:xfrm>
            <a:off x="4846320" y="3182112"/>
            <a:ext cx="54864" cy="47548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8" name="Text 46"/>
          <p:cNvSpPr/>
          <p:nvPr/>
        </p:nvSpPr>
        <p:spPr>
          <a:xfrm>
            <a:off x="4983480" y="3209544"/>
            <a:ext cx="3017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172A"/>
                </a:solidFill>
              </a:rPr>
              <a:t>RIÑÓN POLIQUÍSTICO (adulto)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4983480" y="3438144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327 casos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8046720" y="3255264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65A82"/>
                </a:solidFill>
              </a:rPr>
              <a:t>327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4846320" y="3749040"/>
            <a:ext cx="3931920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52" name="Shape 50"/>
          <p:cNvSpPr/>
          <p:nvPr/>
        </p:nvSpPr>
        <p:spPr>
          <a:xfrm>
            <a:off x="4846320" y="3749040"/>
            <a:ext cx="54864" cy="4754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3" name="Text 51"/>
          <p:cNvSpPr/>
          <p:nvPr/>
        </p:nvSpPr>
        <p:spPr>
          <a:xfrm>
            <a:off x="4983480" y="3776472"/>
            <a:ext cx="3017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172A"/>
                </a:solidFill>
              </a:rPr>
              <a:t>ALERGIA NO ESPECIFICADA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4983480" y="4005072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282 casos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8046720" y="3822192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28090"/>
                </a:solidFill>
              </a:rPr>
              <a:t>282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4846320" y="4315968"/>
            <a:ext cx="3931920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57" name="Shape 55"/>
          <p:cNvSpPr/>
          <p:nvPr/>
        </p:nvSpPr>
        <p:spPr>
          <a:xfrm>
            <a:off x="4846320" y="4315968"/>
            <a:ext cx="54864" cy="47548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8" name="Text 56"/>
          <p:cNvSpPr/>
          <p:nvPr/>
        </p:nvSpPr>
        <p:spPr>
          <a:xfrm>
            <a:off x="4983480" y="4343400"/>
            <a:ext cx="3017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172A"/>
                </a:solidFill>
              </a:rPr>
              <a:t>ACONDROPLASIA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4983480" y="457200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188 casos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8046720" y="4389120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A9D8F"/>
                </a:solidFill>
              </a:rPr>
              <a:t>188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320040" y="4670951"/>
            <a:ext cx="4480560" cy="320040"/>
          </a:xfrm>
          <a:prstGeom prst="rect">
            <a:avLst/>
          </a:prstGeom>
          <a:solidFill>
            <a:srgbClr val="EFF6FF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2" name="Text 60"/>
          <p:cNvSpPr/>
          <p:nvPr/>
        </p:nvSpPr>
        <p:spPr>
          <a:xfrm>
            <a:off x="457200" y="4681728"/>
            <a:ext cx="38690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28090"/>
                </a:solidFill>
              </a:rPr>
              <a:t>★  Distrofia Muscular y Fibrosis Quística dependen 100% de importación — sin producción nacional disponible.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828"/>
          </a:solidFill>
          <a:ln w="12700">
            <a:solidFill>
              <a:srgbClr val="0A182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&amp; Sistema de Alertas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 Dash — filtros por urgencia, año, principio activo y diagnóstico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8503920" cy="987552"/>
          </a:xfrm>
          <a:prstGeom prst="rect">
            <a:avLst/>
          </a:prstGeom>
          <a:solidFill>
            <a:srgbClr val="112233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320040" y="1143000"/>
            <a:ext cx="914400" cy="98755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320040" y="138988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🚨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325880" y="123444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63946"/>
                </a:solidFill>
              </a:rPr>
              <a:t>ALTA — Urgencia Clínica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325880" y="1600200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Activación inmediata de importación de emergencia ante INVIMA.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Notificación directa al Ministerio de Salud.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" y="2240280"/>
            <a:ext cx="8503920" cy="987552"/>
          </a:xfrm>
          <a:prstGeom prst="rect">
            <a:avLst/>
          </a:prstGeom>
          <a:solidFill>
            <a:srgbClr val="112233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Shape 9"/>
          <p:cNvSpPr/>
          <p:nvPr/>
        </p:nvSpPr>
        <p:spPr>
          <a:xfrm>
            <a:off x="320040" y="2240280"/>
            <a:ext cx="914400" cy="98755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320040" y="244602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⚠️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325880" y="233172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4A261"/>
                </a:solidFill>
              </a:rPr>
              <a:t>MEDIA — Más de un Paciente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325880" y="2697480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Monitoreo semanal del principio activo.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Revisión de historial del importador principal.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0040" y="3337560"/>
            <a:ext cx="8503920" cy="987552"/>
          </a:xfrm>
          <a:prstGeom prst="rect">
            <a:avLst/>
          </a:prstGeom>
          <a:solidFill>
            <a:srgbClr val="112233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Shape 14"/>
          <p:cNvSpPr/>
          <p:nvPr/>
        </p:nvSpPr>
        <p:spPr>
          <a:xfrm>
            <a:off x="320040" y="3337560"/>
            <a:ext cx="914400" cy="98755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320040" y="354330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325880" y="342900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A9D8F"/>
                </a:solidFill>
              </a:rPr>
              <a:t>BAJA — Paciente Específico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325880" y="3794760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Registro y seguimiento en el sistema.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Si acumula 3+ solicitudes en trimestre → escala a MEDIA.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0040" y="4389120"/>
            <a:ext cx="8503920" cy="548640"/>
          </a:xfrm>
          <a:prstGeom prst="rect">
            <a:avLst/>
          </a:prstGeom>
          <a:solidFill>
            <a:srgbClr val="0A254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457200" y="445312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2C39A"/>
                </a:solidFill>
              </a:rPr>
              <a:t>KPI institucional: Ratio Urgencia ALTA / Total solicitudes. Meta: no superar el 30 % trimestral.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Decisiones Estratégicas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de implementación por horizonte temporal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269748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320040" y="116128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Corto Plazo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" y="1417320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0 – 3 meses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1719072"/>
            <a:ext cx="2697480" cy="84124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9" name="Shape 7"/>
          <p:cNvSpPr/>
          <p:nvPr/>
        </p:nvSpPr>
        <p:spPr>
          <a:xfrm>
            <a:off x="411480" y="1920240"/>
            <a:ext cx="274320" cy="2743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411480" y="1920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77240" y="1810512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F172A"/>
                </a:solidFill>
              </a:rPr>
              <a:t>Contactar proveedores alternativos para los top 10 principios activos en urgencia ALTA.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20040" y="2651760"/>
            <a:ext cx="2697480" cy="84124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3" name="Shape 11"/>
          <p:cNvSpPr/>
          <p:nvPr/>
        </p:nvSpPr>
        <p:spPr>
          <a:xfrm>
            <a:off x="411480" y="2852928"/>
            <a:ext cx="274320" cy="2743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411480" y="28529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77240" y="2743200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F172A"/>
                </a:solidFill>
              </a:rPr>
              <a:t>Obligatoriedad del campo CIE-10 en formularios de solicitud de INVIMA.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20040" y="3584448"/>
            <a:ext cx="2697480" cy="84124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7" name="Shape 15"/>
          <p:cNvSpPr/>
          <p:nvPr/>
        </p:nvSpPr>
        <p:spPr>
          <a:xfrm>
            <a:off x="411480" y="3785616"/>
            <a:ext cx="274320" cy="2743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411480" y="37856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77240" y="3675888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F172A"/>
                </a:solidFill>
              </a:rPr>
              <a:t>Definir umbrales de alerta y notificación automática desde el dashboard.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246120" y="1143000"/>
            <a:ext cx="2697480" cy="5029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3246120" y="116128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Mediano Plazo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246120" y="1417320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3 – 12 meses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246120" y="1719072"/>
            <a:ext cx="2697480" cy="84124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4" name="Shape 22"/>
          <p:cNvSpPr/>
          <p:nvPr/>
        </p:nvSpPr>
        <p:spPr>
          <a:xfrm>
            <a:off x="3337560" y="1920240"/>
            <a:ext cx="274320" cy="27432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Text 23"/>
          <p:cNvSpPr/>
          <p:nvPr/>
        </p:nvSpPr>
        <p:spPr>
          <a:xfrm>
            <a:off x="3337560" y="1920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03320" y="1810512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F172A"/>
                </a:solidFill>
              </a:rPr>
              <a:t>Implementar modelo predictivo de demanda por principio activo y mes.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246120" y="2651760"/>
            <a:ext cx="2697480" cy="84124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8" name="Shape 26"/>
          <p:cNvSpPr/>
          <p:nvPr/>
        </p:nvSpPr>
        <p:spPr>
          <a:xfrm>
            <a:off x="3337560" y="2852928"/>
            <a:ext cx="274320" cy="27432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9" name="Text 27"/>
          <p:cNvSpPr/>
          <p:nvPr/>
        </p:nvSpPr>
        <p:spPr>
          <a:xfrm>
            <a:off x="3337560" y="28529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703320" y="2743200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F172A"/>
                </a:solidFill>
              </a:rPr>
              <a:t>Negociar contratos de suministro garantizado con fabricantes internacionales.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246120" y="3584448"/>
            <a:ext cx="2697480" cy="84124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2" name="Shape 30"/>
          <p:cNvSpPr/>
          <p:nvPr/>
        </p:nvSpPr>
        <p:spPr>
          <a:xfrm>
            <a:off x="3337560" y="3785616"/>
            <a:ext cx="274320" cy="27432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3" name="Text 31"/>
          <p:cNvSpPr/>
          <p:nvPr/>
        </p:nvSpPr>
        <p:spPr>
          <a:xfrm>
            <a:off x="3337560" y="37856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703320" y="3675888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F172A"/>
                </a:solidFill>
              </a:rPr>
              <a:t>Desarrollar guías de sustitución terapéutica para diagnósticos críticos.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172200" y="1143000"/>
            <a:ext cx="2697480" cy="50292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6" name="Text 34"/>
          <p:cNvSpPr/>
          <p:nvPr/>
        </p:nvSpPr>
        <p:spPr>
          <a:xfrm>
            <a:off x="6172200" y="116128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Largo Plazo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172200" y="1417320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1 – 3 años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172200" y="1719072"/>
            <a:ext cx="2697480" cy="84124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9" name="Shape 37"/>
          <p:cNvSpPr/>
          <p:nvPr/>
        </p:nvSpPr>
        <p:spPr>
          <a:xfrm>
            <a:off x="6263640" y="1920240"/>
            <a:ext cx="274320" cy="27432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0" name="Text 38"/>
          <p:cNvSpPr/>
          <p:nvPr/>
        </p:nvSpPr>
        <p:spPr>
          <a:xfrm>
            <a:off x="6263640" y="1920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629400" y="1810512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F172A"/>
                </a:solidFill>
              </a:rPr>
              <a:t>Integrar el dashboard con el sistema nacional de gestión en tiempo real.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6172200" y="2651760"/>
            <a:ext cx="2697480" cy="84124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43" name="Shape 41"/>
          <p:cNvSpPr/>
          <p:nvPr/>
        </p:nvSpPr>
        <p:spPr>
          <a:xfrm>
            <a:off x="6263640" y="2852928"/>
            <a:ext cx="274320" cy="27432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4" name="Text 42"/>
          <p:cNvSpPr/>
          <p:nvPr/>
        </p:nvSpPr>
        <p:spPr>
          <a:xfrm>
            <a:off x="6263640" y="28529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629400" y="2743200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F172A"/>
                </a:solidFill>
              </a:rPr>
              <a:t>Establecer comité interinstitucional de vigilancia farmacológica.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6172200" y="3584448"/>
            <a:ext cx="2697480" cy="84124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47" name="Shape 45"/>
          <p:cNvSpPr/>
          <p:nvPr/>
        </p:nvSpPr>
        <p:spPr>
          <a:xfrm>
            <a:off x="6263640" y="3785616"/>
            <a:ext cx="274320" cy="27432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8" name="Text 46"/>
          <p:cNvSpPr/>
          <p:nvPr/>
        </p:nvSpPr>
        <p:spPr>
          <a:xfrm>
            <a:off x="6263640" y="37856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629400" y="3675888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F172A"/>
                </a:solidFill>
              </a:rPr>
              <a:t>Publicar reportes periódicos de transparencia sobre disponibilidad en Colombia.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3200400"/>
            <a:ext cx="3657600" cy="365760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-914400" y="-914400"/>
            <a:ext cx="2743200" cy="2743200"/>
          </a:xfrm>
          <a:prstGeom prst="ellipse">
            <a:avLst/>
          </a:prstGeom>
          <a:solidFill>
            <a:srgbClr val="02C39A">
              <a:alpha val="12000"/>
            </a:srgbClr>
          </a:solidFill>
          <a:ln w="12700">
            <a:solidFill>
              <a:srgbClr val="02C39A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Conclusión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Reactividad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 Proactividad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457200" y="2304456"/>
            <a:ext cx="457200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457200" y="272491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Pipeline reproducible con 99.4 % de tasa de aceptación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57200" y="3114413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Gobierno de datos con roles, catálogo y 10 reglas formalizadas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3493008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Criterios diferenciados de duplicados — conservamos señal clínica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7200" y="3877056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Dashboard con alertas por nivel de urgencia (ALTA / MEDIA / BAJA)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7200" y="4261104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Roadmap institucional 0–3 años listo para implementación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869568" y="2864316"/>
            <a:ext cx="3976863" cy="1195137"/>
          </a:xfrm>
          <a:prstGeom prst="rect">
            <a:avLst/>
          </a:prstGeom>
          <a:solidFill>
            <a:srgbClr val="0A254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4913270" y="2934983"/>
            <a:ext cx="3889459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02C39A"/>
                </a:solidFill>
              </a:rPr>
              <a:t>La </a:t>
            </a:r>
            <a:r>
              <a:rPr lang="en-US" sz="2000" i="1" dirty="0" err="1">
                <a:solidFill>
                  <a:srgbClr val="02C39A"/>
                </a:solidFill>
              </a:rPr>
              <a:t>calidad</a:t>
            </a:r>
            <a:r>
              <a:rPr lang="en-US" sz="2000" i="1" dirty="0">
                <a:solidFill>
                  <a:srgbClr val="02C39A"/>
                </a:solidFill>
              </a:rPr>
              <a:t> del </a:t>
            </a:r>
            <a:r>
              <a:rPr lang="en-US" sz="2000" i="1" dirty="0" err="1">
                <a:solidFill>
                  <a:srgbClr val="02C39A"/>
                </a:solidFill>
              </a:rPr>
              <a:t>dato</a:t>
            </a:r>
            <a:r>
              <a:rPr lang="en-US" sz="2000" i="1" dirty="0">
                <a:solidFill>
                  <a:srgbClr val="02C39A"/>
                </a:solidFill>
              </a:rPr>
              <a:t> </a:t>
            </a:r>
            <a:r>
              <a:rPr lang="en-US" sz="2000" i="1" dirty="0" err="1">
                <a:solidFill>
                  <a:srgbClr val="02C39A"/>
                </a:solidFill>
              </a:rPr>
              <a:t>en</a:t>
            </a:r>
            <a:r>
              <a:rPr lang="en-US" sz="2000" i="1" dirty="0">
                <a:solidFill>
                  <a:srgbClr val="02C39A"/>
                </a:solidFill>
              </a:rPr>
              <a:t> </a:t>
            </a:r>
            <a:r>
              <a:rPr lang="en-US" sz="2000" i="1" dirty="0" err="1">
                <a:solidFill>
                  <a:srgbClr val="02C39A"/>
                </a:solidFill>
              </a:rPr>
              <a:t>origen</a:t>
            </a:r>
            <a:r>
              <a:rPr lang="en-US" sz="2000" i="1" dirty="0">
                <a:solidFill>
                  <a:srgbClr val="02C39A"/>
                </a:solidFill>
              </a:rPr>
              <a:t> y la </a:t>
            </a:r>
            <a:r>
              <a:rPr lang="en-US" sz="2000" i="1" dirty="0" err="1">
                <a:solidFill>
                  <a:srgbClr val="02C39A"/>
                </a:solidFill>
              </a:rPr>
              <a:t>institucionalización</a:t>
            </a:r>
            <a:r>
              <a:rPr lang="en-US" sz="2000" i="1" dirty="0">
                <a:solidFill>
                  <a:srgbClr val="02C39A"/>
                </a:solidFill>
              </a:rPr>
              <a:t> de sus KPIs son la </a:t>
            </a:r>
            <a:r>
              <a:rPr lang="en-US" sz="2000" i="1" dirty="0" err="1">
                <a:solidFill>
                  <a:srgbClr val="02C39A"/>
                </a:solidFill>
              </a:rPr>
              <a:t>condición</a:t>
            </a:r>
            <a:r>
              <a:rPr lang="en-US" sz="2000" i="1" dirty="0">
                <a:solidFill>
                  <a:srgbClr val="02C39A"/>
                </a:solidFill>
              </a:rPr>
              <a:t> para </a:t>
            </a:r>
            <a:r>
              <a:rPr lang="en-US" sz="2000" i="1" dirty="0" err="1">
                <a:solidFill>
                  <a:srgbClr val="02C39A"/>
                </a:solidFill>
              </a:rPr>
              <a:t>maximizar</a:t>
            </a:r>
            <a:r>
              <a:rPr lang="en-US" sz="2000" i="1" dirty="0">
                <a:solidFill>
                  <a:srgbClr val="02C39A"/>
                </a:solidFill>
              </a:rPr>
              <a:t> </a:t>
            </a:r>
            <a:r>
              <a:rPr lang="en-US" sz="2000" i="1" dirty="0" err="1">
                <a:solidFill>
                  <a:srgbClr val="02C39A"/>
                </a:solidFill>
              </a:rPr>
              <a:t>el</a:t>
            </a:r>
            <a:r>
              <a:rPr lang="en-US" sz="2000" i="1" dirty="0">
                <a:solidFill>
                  <a:srgbClr val="02C39A"/>
                </a:solidFill>
              </a:rPr>
              <a:t> </a:t>
            </a:r>
            <a:r>
              <a:rPr lang="en-US" sz="2000" i="1" dirty="0" err="1">
                <a:solidFill>
                  <a:srgbClr val="02C39A"/>
                </a:solidFill>
              </a:rPr>
              <a:t>impacto</a:t>
            </a:r>
            <a:r>
              <a:rPr lang="en-US" sz="2000" i="1" dirty="0">
                <a:solidFill>
                  <a:srgbClr val="02C39A"/>
                </a:solidFill>
              </a:rPr>
              <a:t>.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57200" y="4864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Data Office Strategy — UPB  |  Mayo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1276</Words>
  <Application>Microsoft Office PowerPoint</Application>
  <PresentationFormat>Presentación en pantalla (16:9)</PresentationFormat>
  <Paragraphs>280</Paragraphs>
  <Slides>12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 de Alerta Temprana — Medicamentos Vitales No Disponibles</dc:title>
  <dc:subject>PptxGenJS Presentation</dc:subject>
  <dc:creator>PptxGenJS</dc:creator>
  <cp:lastModifiedBy>Stefany Morelos Morelo</cp:lastModifiedBy>
  <cp:revision>2</cp:revision>
  <dcterms:created xsi:type="dcterms:W3CDTF">2026-05-15T21:23:27Z</dcterms:created>
  <dcterms:modified xsi:type="dcterms:W3CDTF">2026-05-15T21:31:57Z</dcterms:modified>
</cp:coreProperties>
</file>